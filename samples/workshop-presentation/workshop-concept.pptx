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27430a75fd431c" /><Relationship Type="http://schemas.openxmlformats.org/officeDocument/2006/relationships/extended-properties" Target="/docProps/app.xml" Id="R1b2de46c04d24663" /><Relationship Type="http://schemas.openxmlformats.org/officeDocument/2006/relationships/officeDocument" Target="/ppt/presentation.xml" Id="R1b0d0e7cdde64b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9aecb7b5ad4669"/>
  </p:sldMasterIdLst>
  <p:notesMasterIdLst>
    <p:notesMasterId xmlns:r="http://schemas.openxmlformats.org/officeDocument/2006/relationships" r:id="R5ac1956c3003453c"/>
  </p:notesMasterIdLst>
  <p:sldIdLst>
    <p:sldId xmlns:r="http://schemas.openxmlformats.org/officeDocument/2006/relationships" id="256" r:id="Rbfc45b1744b34aa7"/>
    <p:sldId xmlns:r="http://schemas.openxmlformats.org/officeDocument/2006/relationships" id="257" r:id="R611ddf1550f14dd2"/>
    <p:sldId xmlns:r="http://schemas.openxmlformats.org/officeDocument/2006/relationships" id="258" r:id="R2780c00089054d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0650a038554afd" /><Relationship Type="http://schemas.openxmlformats.org/officeDocument/2006/relationships/slideMaster" Target="/ppt/slideMasters/slideMaster1.xml" Id="Rd89aecb7b5ad4669" /><Relationship Type="http://schemas.openxmlformats.org/officeDocument/2006/relationships/notesMaster" Target="/ppt/notesMasters/notesMaster1.xml" Id="R5ac1956c3003453c" /><Relationship Type="http://schemas.openxmlformats.org/officeDocument/2006/relationships/presProps" Target="/ppt/presProps.xml" Id="Rf8f5ee5a5d38466b" /><Relationship Type="http://schemas.openxmlformats.org/officeDocument/2006/relationships/tableStyles" Target="/ppt/tableStyles.xml" Id="R2f02ac7aeff24ea1" /><Relationship Type="http://schemas.openxmlformats.org/officeDocument/2006/relationships/slide" Target="/ppt/slides/slide1.xml" Id="Rbfc45b1744b34aa7" /><Relationship Type="http://schemas.openxmlformats.org/officeDocument/2006/relationships/slide" Target="/ppt/slides/slide2.xml" Id="R611ddf1550f14dd2" /><Relationship Type="http://schemas.openxmlformats.org/officeDocument/2006/relationships/slide" Target="/ppt/slides/slide3.xml" Id="R2780c00089054d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8c550b6db248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a0c2be187546fe" /><Relationship Type="http://schemas.openxmlformats.org/officeDocument/2006/relationships/notesMaster" Target="/ppt/notesMasters/notesMaster1.xml" Id="Ra7626a5b693040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23fc10393743d7" /><Relationship Type="http://schemas.openxmlformats.org/officeDocument/2006/relationships/notesMaster" Target="/ppt/notesMasters/notesMaster1.xml" Id="R2a87c04d9d254f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d58bae6a144ac8" /><Relationship Type="http://schemas.openxmlformats.org/officeDocument/2006/relationships/notesMaster" Target="/ppt/notesMasters/notesMaster1.xml" Id="R890f4a4a9e7843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presentation sample by Hồ Khắc Huy, created September 6, 2026 with AI assistance. This is a fictional professional-education event, with no client, event organizer or medical-product affiliation. The 60-minute duration is a proposed example. Prepared to demonstrate presentation design for an agency freelance roster. Text and data remain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survey data are fictional and created for this portfolio demonstration: practical cases 42, expert Q&amp;A 28, frameworks 18, peer discussion 12. Total 100. Each fictional respondent selects one format. Cases plus Q&amp;A total 70. The next slide allocates 35 of 60 minutes to a worked example and expert Q&amp;A. That allocation is an illustrative planning decision, not an empirical effectiveness claim. The chart and its data are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60-minute program. Durations sum to 5 + 10 + 20 + 15 + 10 = 60 minutes. Worked example and expert Q&amp;A total 35 minutes. Shaded rows identify these two sessions. Timing is elapsed time, not a promised real event schedule. All table cells are native editable objects. Independent work with AI assistance by Hồ Khắc Huy. Contact: hohuyblon@gmail.com.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98d4d2c34a46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b9af61a7e94cf0" /><Relationship Type="http://schemas.openxmlformats.org/officeDocument/2006/relationships/slideLayout" Target="/ppt/slideLayouts/slideLayout1.xml" Id="Rbb3cf53458234f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3cf53458234f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01a2900454f93" /><Relationship Type="http://schemas.openxmlformats.org/officeDocument/2006/relationships/notesSlide" Target="/ppt/notesSlides/notesSlide1.xml" Id="R420bacfe744f4d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14a0712ed49cc" /><Relationship Type="http://schemas.openxmlformats.org/officeDocument/2006/relationships/chart" Target="/ppt/slides/charts/chart1.xml" Id="R9bb2973aab374f82" /><Relationship Type="http://schemas.openxmlformats.org/officeDocument/2006/relationships/notesSlide" Target="/ppt/notesSlides/notesSlide2.xml" Id="R80816d5ba26a40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ba02768704cd0" /><Relationship Type="http://schemas.openxmlformats.org/officeDocument/2006/relationships/notesSlide" Target="/ppt/notesSlides/notesSlide3.xml" Id="Rbbf48a6d4aea455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Participants</c:v>
          </c:tx>
          <c:spPr>
            <a:solidFill xmlns:a="http://schemas.openxmlformats.org/drawingml/2006/main">
              <a:srgbClr val="257971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CC3B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3A79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57971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143C3B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Peer discussion</c:v>
                </c:pt>
                <c:pt idx="1">
                  <c:v>Frameworks</c:v>
                </c:pt>
                <c:pt idx="2">
                  <c:v>Expert Q&amp;A</c:v>
                </c:pt>
                <c:pt idx="3">
                  <c:v>Practical cases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28</c:v>
                </c:pt>
                <c:pt idx="3">
                  <c:v>42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43C3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43C3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50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706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5F3EB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5F3EB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C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ntext">
            <a:extLst xmlns:a="http://schemas.openxmlformats.org/drawingml/2006/main">
              <a:ext uri="{FF2B5EF4-FFF2-40B4-BE49-F238E27FC236}">
                <a16:creationId xmlns:a16="http://schemas.microsoft.com/office/drawing/2014/main" id="{C1F2E9C4-7101-4BC0-8B78-435C9A0F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9DED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9DED7"/>
                </a:solidFill>
                <a:latin typeface="Arial"/>
                <a:ea typeface="Arial"/>
                <a:cs typeface="Arial"/>
              </a:rPr>
              <a:t>PROFESSIONAL EDUCATION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8738C30-E456-4CD2-A892-CD6E3DDF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9057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Annual learning</a:t>
            </a:r>
          </a:p>
          <a:p xmlns:a="http://schemas.openxmlformats.org/drawingml/2006/main">
            <a:pPr>
              <a:defRPr sz="7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workshop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34DF4D4-4720-4222-9270-A872FBB8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162425"/>
            <a:ext cx="695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5E5D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5E5DF"/>
                </a:solidFill>
                <a:latin typeface="Arial"/>
                <a:ea typeface="Arial"/>
                <a:cs typeface="Arial"/>
              </a:rPr>
              <a:t>Session planning concept</a:t>
            </a:r>
          </a:p>
          <a:p xmlns:a="http://schemas.openxmlformats.org/drawingml/2006/main">
            <a:pPr>
              <a:defRPr sz="2175" b="0">
                <a:solidFill>
                  <a:srgbClr val="D5E5D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5E5DF"/>
                </a:solidFill>
                <a:latin typeface="Arial"/>
                <a:ea typeface="Arial"/>
                <a:cs typeface="Arial"/>
              </a:rPr>
              <a:t>for an interactive professional event</a:t>
            </a:r>
          </a:p>
        </p:txBody>
      </p:sp>
      <p:sp>
        <p:nvSpPr>
          <p:cNvPr id="4" name="duration">
            <a:extLst xmlns:a="http://schemas.openxmlformats.org/drawingml/2006/main">
              <a:ext uri="{FF2B5EF4-FFF2-40B4-BE49-F238E27FC236}">
                <a16:creationId xmlns:a16="http://schemas.microsoft.com/office/drawing/2014/main" id="{597C1734-C0CD-4386-AF3B-FC762068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0250"/>
            <a:ext cx="238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400" b="1">
                <a:solidFill>
                  <a:srgbClr val="BDE8BB"/>
                </a:solidFill>
                <a:latin typeface="Arial"/>
                <a:ea typeface="Arial"/>
                <a:cs typeface="Arial"/>
              </a:defRPr>
            </a:pPr>
            <a:r>
              <a:rPr sz="11400" b="1">
                <a:solidFill>
                  <a:srgbClr val="BDE8BB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5" name="duration-unit">
            <a:extLst xmlns:a="http://schemas.openxmlformats.org/drawingml/2006/main">
              <a:ext uri="{FF2B5EF4-FFF2-40B4-BE49-F238E27FC236}">
                <a16:creationId xmlns:a16="http://schemas.microsoft.com/office/drawing/2014/main" id="{5454A649-F477-4E57-933C-848F79E8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6576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DE8B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DE8BB"/>
                </a:solidFill>
                <a:latin typeface="Arial"/>
                <a:ea typeface="Arial"/>
                <a:cs typeface="Arial"/>
              </a:rPr>
              <a:t>MINUTES</a:t>
            </a:r>
          </a:p>
        </p:txBody>
      </p:sp>
      <p:sp>
        <p:nvSpPr>
          <p:cNvPr id="6" name="provenance">
            <a:extLst xmlns:a="http://schemas.openxmlformats.org/drawingml/2006/main">
              <a:ext uri="{FF2B5EF4-FFF2-40B4-BE49-F238E27FC236}">
                <a16:creationId xmlns:a16="http://schemas.microsoft.com/office/drawing/2014/main" id="{50EAA2E0-3C7F-4734-9AE9-C0F65F8E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DE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ED7"/>
                </a:solidFill>
                <a:latin typeface="Arial"/>
                <a:ea typeface="Arial"/>
                <a:cs typeface="Arial"/>
              </a:rPr>
              <a:t>Independent concept by Hồ Khắc Huy. Fictional event and data.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4DCA34E3-88C8-4783-8956-94CE4543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DED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ED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05317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DD37E51-51F2-4278-B20B-BEFC2D14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43C3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43C3B"/>
                </a:solidFill>
                <a:latin typeface="Arial"/>
                <a:ea typeface="Arial"/>
                <a:cs typeface="Arial"/>
              </a:rPr>
              <a:t>Practical learning comes first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D9E93D1E-01C5-4035-9ACF-1F58FF25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70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706C"/>
                </a:solidFill>
                <a:latin typeface="Arial"/>
                <a:ea typeface="Arial"/>
                <a:cs typeface="Arial"/>
              </a:rPr>
              <a:t>Illustrative planning survey with 100 fictional responses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52450" y="2333625"/>
          <a:ext xmlns:a="http://schemas.openxmlformats.org/drawingml/2006/main" cx="7696200" cy="3114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b2973aab374f82"/>
          </a:graphicData>
        </a:graphic>
      </p:graphicFrame>
      <p:sp>
        <p:nvSpPr>
          <p:cNvPr id="4" name="selected-result">
            <a:extLst xmlns:a="http://schemas.openxmlformats.org/drawingml/2006/main">
              <a:ext uri="{FF2B5EF4-FFF2-40B4-BE49-F238E27FC236}">
                <a16:creationId xmlns:a16="http://schemas.microsoft.com/office/drawing/2014/main" id="{5BD2E51E-97C9-495D-87E3-A53D1225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76500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43C3B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43C3B"/>
                </a:solidFill>
                <a:latin typeface="Arial"/>
                <a:ea typeface="Arial"/>
                <a:cs typeface="Arial"/>
              </a:rPr>
              <a:t>70 of 100</a:t>
            </a:r>
          </a:p>
        </p:txBody>
      </p:sp>
      <p:sp>
        <p:nvSpPr>
          <p:cNvPr id="5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1FD9683B-71C3-4DAE-B635-BF42FA20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3C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3C3B"/>
                </a:solidFill>
                <a:latin typeface="Arial"/>
                <a:ea typeface="Arial"/>
                <a:cs typeface="Arial"/>
              </a:rPr>
              <a:t>prefer practical cases</a:t>
            </a:r>
          </a:p>
          <a:p xmlns:a="http://schemas.openxmlformats.org/drawingml/2006/main">
            <a:pPr>
              <a:defRPr sz="2025" b="0">
                <a:solidFill>
                  <a:srgbClr val="143C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3C3B"/>
                </a:solidFill>
                <a:latin typeface="Arial"/>
                <a:ea typeface="Arial"/>
                <a:cs typeface="Arial"/>
              </a:rPr>
              <a:t>or expert Q&amp;A</a:t>
            </a:r>
          </a:p>
        </p:txBody>
      </p:sp>
      <p:sp>
        <p:nvSpPr>
          <p:cNvPr id="6" name="planning-implication">
            <a:extLst xmlns:a="http://schemas.openxmlformats.org/drawingml/2006/main">
              <a:ext uri="{FF2B5EF4-FFF2-40B4-BE49-F238E27FC236}">
                <a16:creationId xmlns:a16="http://schemas.microsoft.com/office/drawing/2014/main" id="{7DAAD37B-A884-412C-AF89-215693C5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8152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70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706C"/>
                </a:solidFill>
                <a:latin typeface="Arial"/>
                <a:ea typeface="Arial"/>
                <a:cs typeface="Arial"/>
              </a:rPr>
              <a:t>Proposed allocation:</a:t>
            </a:r>
          </a:p>
          <a:p xmlns:a="http://schemas.openxmlformats.org/drawingml/2006/main">
            <a:pPr>
              <a:defRPr sz="1725" b="0">
                <a:solidFill>
                  <a:srgbClr val="5B70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706C"/>
                </a:solidFill>
                <a:latin typeface="Arial"/>
                <a:ea typeface="Arial"/>
                <a:cs typeface="Arial"/>
              </a:rPr>
              <a:t>35 of 60 minutes</a:t>
            </a:r>
          </a:p>
        </p:txBody>
      </p:sp>
      <p:sp>
        <p:nvSpPr>
          <p:cNvPr id="7" name="provenance">
            <a:extLst xmlns:a="http://schemas.openxmlformats.org/drawingml/2006/main">
              <a:ext uri="{FF2B5EF4-FFF2-40B4-BE49-F238E27FC236}">
                <a16:creationId xmlns:a16="http://schemas.microsoft.com/office/drawing/2014/main" id="{9D36A482-5401-4C2C-B274-46EA44D8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06C"/>
                </a:solidFill>
                <a:latin typeface="Arial"/>
                <a:ea typeface="Arial"/>
                <a:cs typeface="Arial"/>
              </a:rPr>
              <a:t>Independent concept by Hồ Khắc Huy. Fictional event and data.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A5576BAB-AEBB-4C55-84CC-DA5D0D3B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70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70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003074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413EEC2-AE0A-4B46-8D93-2945A18D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43C3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43C3B"/>
                </a:solidFill>
                <a:latin typeface="Arial"/>
                <a:ea typeface="Arial"/>
                <a:cs typeface="Arial"/>
              </a:rPr>
              <a:t>A 60-minute workshop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931F6E88-96CE-446F-9185-D991C1C8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70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706C"/>
                </a:solidFill>
                <a:latin typeface="Arial"/>
                <a:ea typeface="Arial"/>
                <a:cs typeface="Arial"/>
              </a:rPr>
              <a:t>A short framework followed by application and discussion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28650" y="2238375"/>
          <a:ext xmlns:a="http://schemas.openxmlformats.org/drawingml/2006/main" cx="10934700" cy="3314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24100"/>
                <a:gridCol w="6553200"/>
                <a:gridCol w="2057400"/>
              </a:tblGrid>
              <a:tr h="5524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Elapsed time</a:t>
                      </a:r>
                    </a:p>
                  </a:txBody>
                  <a:tcPr marL="91440" marR="91440" marT="45720" marB="45720">
                    <a:solidFill>
                      <a:srgbClr val="143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Session</a:t>
                      </a:r>
                    </a:p>
                  </a:txBody>
                  <a:tcPr marL="91440" marR="91440" marT="45720" marB="45720">
                    <a:solidFill>
                      <a:srgbClr val="143C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Duration</a:t>
                      </a:r>
                    </a:p>
                  </a:txBody>
                  <a:tcPr marL="91440" marR="91440" marT="45720" marB="45720">
                    <a:solidFill>
                      <a:srgbClr val="143C3B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C3B"/>
                          </a:solidFill>
                          <a:latin typeface="Arial"/>
                          <a:ea typeface="Arial"/>
                          <a:cs typeface="Arial"/>
                        </a:rPr>
                        <a:t>00–05 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3C3B"/>
                          </a:solidFill>
                          <a:latin typeface="Arial"/>
                          <a:ea typeface="Arial"/>
                          <a:cs typeface="Arial"/>
                        </a:rPr>
                        <a:t>Welcome and objectives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C3B"/>
                          </a:solidFill>
                          <a:latin typeface="Arial"/>
                          <a:ea typeface="Arial"/>
                          <a:cs typeface="Arial"/>
                        </a:rPr>
                        <a:t>5 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C3B"/>
                          </a:solidFill>
                          <a:latin typeface="Arial"/>
                          <a:ea typeface="Arial"/>
                          <a:cs typeface="Arial"/>
                        </a:rPr>
                        <a:t>05–15 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3C3B"/>
                          </a:solidFill>
                          <a:latin typeface="Arial"/>
                          <a:ea typeface="Arial"/>
                          <a:cs typeface="Arial"/>
                        </a:rPr>
                        <a:t>A shared framework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C3B"/>
                          </a:solidFill>
                          <a:latin typeface="Arial"/>
                          <a:ea typeface="Arial"/>
                          <a:cs typeface="Arial"/>
                        </a:rPr>
                        <a:t>10 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C3B"/>
                          </a:solidFill>
                          <a:latin typeface="Arial"/>
                          <a:ea typeface="Arial"/>
                          <a:cs typeface="Arial"/>
                        </a:rPr>
                        <a:t>15–35 min</a:t>
                      </a:r>
                    </a:p>
                  </a:txBody>
                  <a:tcPr marL="91440" marR="91440" marT="45720" marB="45720">
                    <a:solidFill>
                      <a:srgbClr val="E9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3C3B"/>
                          </a:solidFill>
                          <a:latin typeface="Arial"/>
                          <a:ea typeface="Arial"/>
                          <a:cs typeface="Arial"/>
                        </a:rPr>
                        <a:t>Worked example</a:t>
                      </a:r>
                    </a:p>
                  </a:txBody>
                  <a:tcPr marL="91440" marR="91440" marT="45720" marB="45720">
                    <a:solidFill>
                      <a:srgbClr val="E9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C3B"/>
                          </a:solidFill>
                          <a:latin typeface="Arial"/>
                          <a:ea typeface="Arial"/>
                          <a:cs typeface="Arial"/>
                        </a:rPr>
                        <a:t>20 min</a:t>
                      </a:r>
                    </a:p>
                  </a:txBody>
                  <a:tcPr marL="91440" marR="91440" marT="45720" marB="45720">
                    <a:solidFill>
                      <a:srgbClr val="E9F2EB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C3B"/>
                          </a:solidFill>
                          <a:latin typeface="Arial"/>
                          <a:ea typeface="Arial"/>
                          <a:cs typeface="Arial"/>
                        </a:rPr>
                        <a:t>35–50 min</a:t>
                      </a:r>
                    </a:p>
                  </a:txBody>
                  <a:tcPr marL="91440" marR="91440" marT="45720" marB="45720">
                    <a:solidFill>
                      <a:srgbClr val="E9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3C3B"/>
                          </a:solidFill>
                          <a:latin typeface="Arial"/>
                          <a:ea typeface="Arial"/>
                          <a:cs typeface="Arial"/>
                        </a:rPr>
                        <a:t>Expert Q&amp;A</a:t>
                      </a:r>
                    </a:p>
                  </a:txBody>
                  <a:tcPr marL="91440" marR="91440" marT="45720" marB="45720">
                    <a:solidFill>
                      <a:srgbClr val="E9F2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C3B"/>
                          </a:solidFill>
                          <a:latin typeface="Arial"/>
                          <a:ea typeface="Arial"/>
                          <a:cs typeface="Arial"/>
                        </a:rPr>
                        <a:t>15 min</a:t>
                      </a:r>
                    </a:p>
                  </a:txBody>
                  <a:tcPr marL="91440" marR="91440" marT="45720" marB="45720">
                    <a:solidFill>
                      <a:srgbClr val="E9F2EB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C3B"/>
                          </a:solidFill>
                          <a:latin typeface="Arial"/>
                          <a:ea typeface="Arial"/>
                          <a:cs typeface="Arial"/>
                        </a:rPr>
                        <a:t>50–60 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3C3B"/>
                          </a:solidFill>
                          <a:latin typeface="Arial"/>
                          <a:ea typeface="Arial"/>
                          <a:cs typeface="Arial"/>
                        </a:rPr>
                        <a:t>Reflection and next steps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C3B"/>
                          </a:solidFill>
                          <a:latin typeface="Arial"/>
                          <a:ea typeface="Arial"/>
                          <a:cs typeface="Arial"/>
                        </a:rPr>
                        <a:t>10 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provenance">
            <a:extLst xmlns:a="http://schemas.openxmlformats.org/drawingml/2006/main">
              <a:ext uri="{FF2B5EF4-FFF2-40B4-BE49-F238E27FC236}">
                <a16:creationId xmlns:a16="http://schemas.microsoft.com/office/drawing/2014/main" id="{DB3103CF-0CA0-4F65-9E55-0932B02D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6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706C"/>
                </a:solidFill>
                <a:latin typeface="Arial"/>
                <a:ea typeface="Arial"/>
                <a:cs typeface="Arial"/>
              </a:rPr>
              <a:t>Independent concept by Hồ Khắc Huy. Fictional event and data.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13E4D68-99CD-4193-B2DF-92E61464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70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70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763365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2026-09-06T12:35:46.9480000Z</dcterms:created>
  <dcterms:modified xsi:type="dcterms:W3CDTF">2026-09-06T12:35:46.9480000Z</dcterms:modified>
</coreProperties>
</file>